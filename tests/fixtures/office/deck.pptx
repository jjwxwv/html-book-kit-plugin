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deviation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0.71</c:v>
                </c:pt>
                <c:pt idx="1">
                  <c:v>6.32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bodyPr/>
        <a:p>
          <a:r>
            <a:t>Collect data</a:t>
          </a:r>
        </a:p>
      </dgm:t>
    </dgm:pt>
    <dgm:pt modelId="2">
      <dgm:t>
        <a:bodyPr/>
        <a:p>
          <a:r>
            <a:t>Summarise</a:t>
          </a:r>
        </a:p>
      </dgm:t>
    </dgm:pt>
    <dgm:pt modelId="3">
      <dgm:t>
        <a:bodyPr/>
        <a:p>
          <a:r>
            <a:t>Decide</a:t>
          </a:r>
        </a:p>
      </dgm:t>
    </dgm:pt>
  </dgm:ptLst>
</dgm:dataModel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IQR ignores the 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Measures of spread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Range and quartiles</a:t>
            </a:r>
          </a:p>
          <a:p>
            <a:pPr lvl="1"/>
            <a:r>
              <a:t>IQR = Q3 − Q1</a:t>
            </a:r>
          </a:p>
        </p:txBody>
      </p:sp>
      <p:pic>
        <p:nvPicPr>
          <p:cNvPr id="4" name="Picture 3" descr="box plot of the two data s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9144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variance</a:t>
            </a:r>
          </a:p>
        </p:txBody>
      </p:sp>
      <mc:AlternateContent xmlns:mc="http://schemas.openxmlformats.org/markup-compatibility/2006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14400" y="1828800"/>
                <a:ext cx="6400800" cy="10972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Definition: </a:t>
                </a:r>
                <a14:m xmlns:a14="http://schemas.microsoft.com/office/drawing/2010/main"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=</m:t>
                    </m:r>
                    <m:f>
                      <m:num>
                        <m:nary>
                          <m:naryPr>
                            <m:chr m:val="∑"/>
                          </m:naryPr>
                          <m:sub>
                            <m:r>
                              <m:t>i=1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e>
                                    <m:sSub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</m:accPr>
                                      <m:e>
                                        <m:r>
                                          <m:t>x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m:t>n−1</m:t>
                        </m:r>
                      </m:den>
                    </m:f>
                  </m:oMath>
                </a14:m>
                <a:r>
                  <a:t> for a sample of size n</a:t>
                </a:r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914400" y="1828800"/>
                <a:ext cx="6400800" cy="10972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 </a:t>
                </a:r>
                <a: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data 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r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6.32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7200" y="3657600"/>
            <a:ext cx="1828800" cy="1005840"/>
            <a:chOff x="457200" y="3657600"/>
            <a:chExt cx="1828800" cy="1005840"/>
          </a:xfrm>
        </p:grpSpPr>
        <p:sp>
          <p:nvSpPr>
            <p:cNvPr id="6" name="TextBox 5"/>
            <p:cNvSpPr txBox="1"/>
            <p:nvPr/>
          </p:nvSpPr>
          <p:spPr>
            <a:xfrm>
              <a:off x="457200" y="3657600"/>
              <a:ext cx="1828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note one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4206240"/>
              <a:ext cx="1828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first line</a:t>
              </a:r>
              <a:br/>
              <a:r>
                <a:t>second line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</a:t>
            </a:r>
          </a:p>
        </p:txBody>
      </p:sp>
      <p:graphicFrame xmlns:dgm="http://schemas.openxmlformats.org/drawingml/2006/diagram">
        <p:nvGraphicFramePr>
          <p:cNvPr id="77" name="Diagram 1"/>
          <p:cNvGraphicFramePr/>
          <p:nvPr/>
        </p:nvGraphicFramePr>
        <p:xfrm>
          <a:off x="0" y="0"/>
          <a:ext cx="100" cy="100"/>
        </p:xfrm>
        <a:graphic>
          <a:graphicData uri="http://schemas.openxmlformats.org/drawingml/2006/diagram">
            <dgm:relIds r:dm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